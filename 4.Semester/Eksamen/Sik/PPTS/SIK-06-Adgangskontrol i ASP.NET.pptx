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295" r:id="rId5"/>
    <p:sldId id="322" r:id="rId6"/>
    <p:sldId id="323" r:id="rId7"/>
    <p:sldId id="324" r:id="rId8"/>
    <p:sldId id="325" r:id="rId9"/>
    <p:sldId id="326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5-21T12:41:49.562" v="15652" actId="20577"/>
      <pc:docMkLst>
        <pc:docMk/>
      </pc:docMkLst>
      <pc:sldChg chg="addSp delSp modSp new mod">
        <pc:chgData name="Jesper Buch Poignée" userId="e9c179cb-b07f-48e2-8bc5-99357f35e469" providerId="ADAL" clId="{0FA08CF4-302B-405B-A75E-5DF504EDE4A1}" dt="2026-05-21T12:41:49.562" v="15652" actId="20577"/>
        <pc:sldMkLst>
          <pc:docMk/>
          <pc:sldMk cId="2018586491" sldId="325"/>
        </pc:sldMkLst>
        <pc:spChg chg="add mod">
          <ac:chgData name="Jesper Buch Poignée" userId="e9c179cb-b07f-48e2-8bc5-99357f35e469" providerId="ADAL" clId="{0FA08CF4-302B-405B-A75E-5DF504EDE4A1}" dt="2026-05-21T12:41:49.562" v="15652" actId="20577"/>
          <ac:spMkLst>
            <pc:docMk/>
            <pc:sldMk cId="2018586491" sldId="325"/>
            <ac:spMk id="11" creationId="{274E021F-1A26-9980-51BD-D77ED1D57C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5/21/2026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5/21/2026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ress/pro-asp.net-core-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ixabay.com/fr/cookie-1264231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localhost:5000/admin/" TargetMode="External"/><Relationship Id="rId4" Type="http://schemas.openxmlformats.org/officeDocument/2006/relationships/hyperlink" Target="http://localhost:5000/admin/identityuser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Adgangskontrol i ASP.NET</a:t>
            </a:r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/>
              <a:t>[Freeman22], kapitel 11 og 15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3AA1F-A35C-2A7A-6D55-5E8E68C9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Opsætning af Visual Studio ASP.NET case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3FB0789-961D-CFA5-232D-ED32CF5F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buNone/>
            </a:pPr>
            <a:r>
              <a:rPr lang="da-DK" sz="3200" b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Forudsætninger</a:t>
            </a:r>
            <a:r>
              <a:rPr lang="da-DK" sz="320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da-DK" sz="320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Microsoft Visual Studio 2026 (Community)</a:t>
            </a:r>
          </a:p>
          <a:p>
            <a:pPr marL="0" marR="0">
              <a:buNone/>
            </a:pPr>
            <a:br>
              <a:rPr lang="da-DK" sz="3200" b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3200" b="1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Instruktioner</a:t>
            </a:r>
            <a:r>
              <a:rPr lang="da-DK" sz="320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Åbn Visual Studio, og vælg at klone et projekt.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Indsæt </a:t>
            </a: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URL'en til GitHub</a:t>
            </a: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Efter kloning bliver du muligvis bedt om at installere en ny version af .NET, hvilket du bekræfter.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Åbn løsningen </a:t>
            </a:r>
            <a:r>
              <a:rPr lang="da-DK" sz="3200" b="0" i="0" noProof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SportsSln</a:t>
            </a: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hørende til slutning af kapitel 11.</a:t>
            </a:r>
          </a:p>
          <a:p>
            <a:pPr rtl="0" fontAlgn="ctr">
              <a:buFont typeface="+mj-lt"/>
              <a:buAutoNum type="arabicPeriod"/>
            </a:pP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Klik på den grønne startknap for at starte et </a:t>
            </a:r>
            <a:r>
              <a:rPr lang="da-DK" sz="3200" b="0" i="0" noProof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da-DK" sz="3200" b="0" i="0" noProof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og bekræft at certifikatet kan installeres.</a:t>
            </a:r>
          </a:p>
          <a:p>
            <a:pPr marL="0" indent="0">
              <a:buNone/>
            </a:pPr>
            <a:endParaRPr lang="da-DK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86407256-7F79-04AF-5357-F34C3445ED67}"/>
              </a:ext>
            </a:extLst>
          </p:cNvPr>
          <p:cNvSpPr txBox="1"/>
          <p:nvPr/>
        </p:nvSpPr>
        <p:spPr>
          <a:xfrm>
            <a:off x="609600" y="6270134"/>
            <a:ext cx="4699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noProof="0" dirty="0">
                <a:hlinkClick r:id="rId2"/>
              </a:rPr>
              <a:t>https://github.com/apress/pro-asp.net-core-6</a:t>
            </a:r>
            <a:r>
              <a:rPr lang="da-DK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973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C9455-6DFE-9230-448A-D530234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noProof="0" dirty="0"/>
              <a:t>ASP.NET Core Identity opsætning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151B509C-D04B-0A8B-F476-21708371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65201"/>
            <a:ext cx="6524858" cy="2740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E6119A9-1A6C-F125-2E97-510757ABC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0703" y="1465201"/>
            <a:ext cx="4151696" cy="4340225"/>
          </a:xfrm>
        </p:spPr>
        <p:txBody>
          <a:bodyPr/>
          <a:lstStyle/>
          <a:p>
            <a:r>
              <a:rPr lang="da-DK" sz="2000" noProof="0" dirty="0"/>
              <a:t>Installation af pakken til </a:t>
            </a:r>
            <a:r>
              <a:rPr lang="da-DK" sz="2000" noProof="0" dirty="0" err="1"/>
              <a:t>Entity</a:t>
            </a:r>
            <a:r>
              <a:rPr lang="da-DK" sz="2000" noProof="0" dirty="0"/>
              <a:t> Framework Core</a:t>
            </a:r>
          </a:p>
          <a:p>
            <a:r>
              <a:rPr lang="da-DK" sz="2000" noProof="0" dirty="0"/>
              <a:t>Database kontekstfil med udgangspunkt i en standard bruger fra Identity</a:t>
            </a:r>
          </a:p>
          <a:p>
            <a:r>
              <a:rPr lang="da-DK" sz="2000" noProof="0" dirty="0"/>
              <a:t>Forbindelse til databasen samt tilføjelse af autentificering og autorisation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AD4D6A9C-A990-E2EA-1C94-1564F55DE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536" y="3872483"/>
            <a:ext cx="6211167" cy="2734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28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4CFA1-3EBF-FF7E-F844-5AE871F2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da-DK" noProof="0" dirty="0"/>
              <a:t>Autentificering</a:t>
            </a:r>
          </a:p>
        </p:txBody>
      </p:sp>
      <p:sp>
        <p:nvSpPr>
          <p:cNvPr id="14" name="Pladsholder til indhold 13">
            <a:extLst>
              <a:ext uri="{FF2B5EF4-FFF2-40B4-BE49-F238E27FC236}">
                <a16:creationId xmlns:a16="http://schemas.microsoft.com/office/drawing/2014/main" id="{FC77E3AE-FC6D-06DE-9307-31BC5A440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0725"/>
            <a:ext cx="5384800" cy="4340225"/>
          </a:xfrm>
        </p:spPr>
        <p:txBody>
          <a:bodyPr/>
          <a:lstStyle/>
          <a:p>
            <a:r>
              <a:rPr lang="da-DK" noProof="0" dirty="0"/>
              <a:t>Når brugeren dirigeres til </a:t>
            </a:r>
            <a:r>
              <a:rPr lang="da-DK" i="1" noProof="0" dirty="0"/>
              <a:t>/</a:t>
            </a:r>
            <a:r>
              <a:rPr lang="da-DK" i="1" noProof="0" dirty="0" err="1"/>
              <a:t>Account</a:t>
            </a:r>
            <a:r>
              <a:rPr lang="da-DK" i="1" noProof="0" dirty="0"/>
              <a:t>/Login</a:t>
            </a:r>
            <a:r>
              <a:rPr lang="da-DK" noProof="0" dirty="0"/>
              <a:t>, vises et login-billede.</a:t>
            </a:r>
          </a:p>
          <a:p>
            <a:r>
              <a:rPr lang="da-DK" noProof="0" dirty="0"/>
              <a:t>Når brugeren indtaster brugernavn og adgangskode, sendes det med HTTP POST, og koden her køres.</a:t>
            </a:r>
          </a:p>
          <a:p>
            <a:r>
              <a:rPr lang="da-DK" noProof="0" dirty="0"/>
              <a:t>Ved succes sendes en cookie: Digitalt bevis på autentificering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C5042F3-48F5-726E-B3CE-EEC3C4AD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1945832"/>
            <a:ext cx="5384800" cy="3378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E199981A-9824-AB6A-047F-139E3610FE50}"/>
              </a:ext>
            </a:extLst>
          </p:cNvPr>
          <p:cNvCxnSpPr>
            <a:cxnSpLocks/>
          </p:cNvCxnSpPr>
          <p:nvPr/>
        </p:nvCxnSpPr>
        <p:spPr>
          <a:xfrm>
            <a:off x="9509760" y="4109987"/>
            <a:ext cx="676978" cy="6448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EDBB25A6-6337-D46A-875E-48D3A9505E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094976" y="4813869"/>
            <a:ext cx="736600" cy="451935"/>
          </a:xfrm>
        </p:spPr>
      </p:pic>
    </p:spTree>
    <p:extLst>
      <p:ext uri="{BB962C8B-B14F-4D97-AF65-F5344CB8AC3E}">
        <p14:creationId xmlns:p14="http://schemas.microsoft.com/office/powerpoint/2010/main" val="387909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7521D-D51A-BA80-38A6-DAA7B8C7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noProof="0" dirty="0"/>
              <a:t>Autorisation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31E9762-EBD7-FC43-9B8F-76178073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65201"/>
            <a:ext cx="5460850" cy="5037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74E021F-1A26-9980-51BD-D77ED1D57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0051" y="1465201"/>
            <a:ext cx="5162349" cy="4340225"/>
          </a:xfrm>
        </p:spPr>
        <p:txBody>
          <a:bodyPr/>
          <a:lstStyle/>
          <a:p>
            <a:r>
              <a:rPr lang="da-DK" noProof="0" dirty="0"/>
              <a:t>Adgang til administratorsider gives til enhver autentificeret bruger. </a:t>
            </a:r>
          </a:p>
          <a:p>
            <a:r>
              <a:rPr lang="da-DK" noProof="0" dirty="0"/>
              <a:t>Altså simpel autorisation:</a:t>
            </a:r>
          </a:p>
          <a:p>
            <a:pPr lvl="1"/>
            <a:r>
              <a:rPr lang="da-DK" dirty="0"/>
              <a:t>Anonym adgang til alle sider</a:t>
            </a:r>
          </a:p>
          <a:p>
            <a:pPr lvl="1"/>
            <a:r>
              <a:rPr lang="da-DK" noProof="0" dirty="0"/>
              <a:t>Begrænset adgang for </a:t>
            </a:r>
            <a:r>
              <a:rPr lang="da-DK" i="1" noProof="0" dirty="0" err="1"/>
              <a:t>Admin</a:t>
            </a:r>
            <a:r>
              <a:rPr lang="da-DK" noProof="0" dirty="0"/>
              <a:t>.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DB479948-F98F-A637-7A3B-65E1F55DC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159" y="4431213"/>
            <a:ext cx="6005649" cy="18040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32C1CB02-A952-F20B-B7F9-A6843A3AEB00}"/>
              </a:ext>
            </a:extLst>
          </p:cNvPr>
          <p:cNvSpPr txBox="1"/>
          <p:nvPr/>
        </p:nvSpPr>
        <p:spPr>
          <a:xfrm>
            <a:off x="609600" y="6523758"/>
            <a:ext cx="5749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http://localhost:5000/admin/identityusers</a:t>
            </a:r>
            <a:r>
              <a:rPr lang="da-DK" sz="1400" dirty="0">
                <a:solidFill>
                  <a:schemeClr val="bg1"/>
                </a:solidFill>
              </a:rPr>
              <a:t> og </a:t>
            </a:r>
            <a:r>
              <a:rPr lang="da-DK" sz="14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http://localhost:5000/admin/</a:t>
            </a:r>
            <a:r>
              <a:rPr lang="da-DK" sz="14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58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0CB820-7E6C-401C-3A92-200124F4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5" name="Pladsholder til indhold 4">
            <a:extLst>
              <a:ext uri="{FF2B5EF4-FFF2-40B4-BE49-F238E27FC236}">
                <a16:creationId xmlns:a16="http://schemas.microsoft.com/office/drawing/2014/main" id="{BD752AB2-4D49-346A-537D-B35117EAF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/>
              <a:t>SIK-06-Øvelser om adgangskontrol i ASP</a:t>
            </a:r>
          </a:p>
        </p:txBody>
      </p:sp>
    </p:spTree>
    <p:extLst>
      <p:ext uri="{BB962C8B-B14F-4D97-AF65-F5344CB8AC3E}">
        <p14:creationId xmlns:p14="http://schemas.microsoft.com/office/powerpoint/2010/main" val="110805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186F28-11F7-08DD-BA06-2C089BC5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FDC082-B89A-458D-4F92-CCF43656F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Læs afsnittet </a:t>
            </a:r>
            <a:r>
              <a:rPr lang="da-DK" i="1" dirty="0" err="1"/>
              <a:t>Storing</a:t>
            </a:r>
            <a:r>
              <a:rPr lang="da-DK" i="1" dirty="0"/>
              <a:t> User </a:t>
            </a:r>
            <a:r>
              <a:rPr lang="da-DK" i="1" dirty="0" err="1"/>
              <a:t>Secrets</a:t>
            </a:r>
            <a:r>
              <a:rPr lang="da-DK" i="1" dirty="0"/>
              <a:t> </a:t>
            </a:r>
            <a:r>
              <a:rPr lang="da-DK" dirty="0"/>
              <a:t>(side 405 og frem) i kapitel 15 af [Freeman22].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Kør projektet hørende til slutningen af kapitel 15.</a:t>
            </a:r>
          </a:p>
          <a:p>
            <a:pPr marL="914400" lvl="1" indent="-514350">
              <a:buFont typeface="+mj-lt"/>
              <a:buAutoNum type="arabicPeriod"/>
            </a:pPr>
            <a:r>
              <a:rPr lang="da-DK" dirty="0"/>
              <a:t>Tilføj </a:t>
            </a:r>
            <a:r>
              <a:rPr lang="da-DK" dirty="0" err="1"/>
              <a:t>mapping</a:t>
            </a:r>
            <a:r>
              <a:rPr lang="da-DK"/>
              <a:t> ifølge side 395.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Besvar spørgsmålene:</a:t>
            </a:r>
          </a:p>
          <a:p>
            <a:pPr marL="914400" lvl="1" indent="-514350">
              <a:buFont typeface="+mj-lt"/>
              <a:buAutoNum type="arabicPeriod"/>
            </a:pPr>
            <a:r>
              <a:rPr lang="da-DK" dirty="0"/>
              <a:t>Hvor og hvordan gemmes </a:t>
            </a:r>
            <a:r>
              <a:rPr lang="da-DK" dirty="0" err="1"/>
              <a:t>secrets</a:t>
            </a:r>
            <a:r>
              <a:rPr lang="da-DK" dirty="0"/>
              <a:t>?</a:t>
            </a:r>
          </a:p>
          <a:p>
            <a:pPr marL="914400" lvl="1" indent="-514350">
              <a:buFont typeface="+mj-lt"/>
              <a:buAutoNum type="arabicPeriod"/>
            </a:pPr>
            <a:r>
              <a:rPr lang="da-DK" dirty="0"/>
              <a:t>Hvor og hvordan læses </a:t>
            </a:r>
            <a:r>
              <a:rPr lang="da-DK" dirty="0" err="1"/>
              <a:t>secrets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6900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0C37F42-0BDF-467B-B67F-6A458DD2FE31}"/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278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Office-tema</vt:lpstr>
      <vt:lpstr>Adgangskontrol i ASP.NET</vt:lpstr>
      <vt:lpstr>Opsætning af Visual Studio ASP.NET case</vt:lpstr>
      <vt:lpstr>ASP.NET Core Identity opsætning</vt:lpstr>
      <vt:lpstr>Autentificering</vt:lpstr>
      <vt:lpstr>Autorisation</vt:lpstr>
      <vt:lpstr>Øvelser</vt:lpstr>
      <vt:lpstr>Øvelser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2026-05-21T12:41:57Z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